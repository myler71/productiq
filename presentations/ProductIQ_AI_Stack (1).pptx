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4A537"/>
                </a:solidFill>
                <a:latin typeface="Calibri"/>
              </a:rPr>
              <a:t>PRODUCTIQ · 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The AI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70332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00A6A6"/>
                </a:solidFill>
                <a:latin typeface="Calibri"/>
              </a:rPr>
              <a:t>LangChain · RAG · CrewAI ·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343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8A99A8"/>
                </a:solidFill>
                <a:latin typeface="Calibri"/>
              </a:rPr>
              <a:t>Four patterns, one dataset, zero invented numbers.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005840" cy="635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One rule governs all four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ProductIQ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2/14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10332720" cy="1188720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0A6A6"/>
                </a:solidFill>
                <a:latin typeface="Calibri"/>
              </a:rPr>
              <a:t>pandas computes.  The LLM narrates.  Never the reverse.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A99A8"/>
                </a:solidFill>
                <a:latin typeface="Calibri"/>
              </a:rPr>
              <a:t>Every figure an agent sees was computed before the prompt was built. The model explains — it cannot originate.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3877056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7947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Reproducible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813048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Calibri"/>
              </a:rPr>
              <a:t>The same question returns the same number on every run — no sampling variance in the maths.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4498848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4165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Auditable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43484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Calibri"/>
              </a:rPr>
              <a:t>Every claim traces to a CSV row or a cited URL. Nothing is unattributable.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5120640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503834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Testable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505663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Calibri"/>
              </a:rPr>
              <a:t>10 test files assert the arithmetic. You cannot unit-test prose; you can unit-test a margin.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5742432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6601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Safe to act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678424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Calibri"/>
              </a:rPr>
              <a:t>A 200,000 EGP purchase decision cannot rest on a number a model felt like producing.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005840" cy="635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Four patterns, one data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ProductIQ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3/14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0A6A6"/>
                </a:solidFill>
                <a:latin typeface="Calibri"/>
              </a:rPr>
              <a:t>Each layer consumes the one above it. Nothing skips the analytics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0789920" cy="896112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63500" cy="89611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1343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A6A6"/>
                </a:solidFill>
                <a:latin typeface="Calibri"/>
              </a:rPr>
              <a:t>1 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32257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pandas over 4 CSVs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34086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9A8"/>
                </a:solidFill>
                <a:latin typeface="Calibri"/>
              </a:rPr>
              <a:t>The only source of numbers in the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36392"/>
            <a:ext cx="10789920" cy="896112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136392"/>
            <a:ext cx="63500" cy="896112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9242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D4A537"/>
                </a:solidFill>
                <a:latin typeface="Calibri"/>
              </a:rPr>
              <a:t>2  LangChain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015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Prompt + computed figures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4198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9A8"/>
                </a:solidFill>
                <a:latin typeface="Calibri"/>
              </a:rPr>
              <a:t>CEO report, explicitly told not to recalculate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15384"/>
            <a:ext cx="10789920" cy="896112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215384"/>
            <a:ext cx="63500" cy="896112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7141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05A5A"/>
                </a:solidFill>
                <a:latin typeface="Calibri"/>
              </a:rPr>
              <a:t>3 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4805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FAISS over generated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4988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9A8"/>
                </a:solidFill>
                <a:latin typeface="Calibri"/>
              </a:rPr>
              <a:t>Knowledge base built FROM the data, not typed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94376"/>
            <a:ext cx="10789920" cy="896112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294376"/>
            <a:ext cx="63500" cy="896112"/>
          </a:xfrm>
          <a:prstGeom prst="rect">
            <a:avLst/>
          </a:prstGeom>
          <a:solidFill>
            <a:srgbClr val="3A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55040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AC08A"/>
                </a:solidFill>
                <a:latin typeface="Calibri"/>
              </a:rPr>
              <a:t>4  CrewAI + 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5595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4 agents, live web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5778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9A8"/>
                </a:solidFill>
                <a:latin typeface="Calibri"/>
              </a:rPr>
              <a:t>Debate grounded in internal + external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005840" cy="635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1 · Analytics — the guard 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ProductIQ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4/14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A6A6"/>
                </a:solidFill>
                <a:latin typeface="Calibri"/>
              </a:rPr>
              <a:t>If a number is not in this dict, the LLM has no business mentioning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10789920" cy="1691640"/>
          </a:xfrm>
          <a:prstGeom prst="roundRect">
            <a:avLst>
              <a:gd name="adj" fmla="val 8000"/>
            </a:avLst>
          </a:prstGeom>
          <a:solidFill>
            <a:srgbClr val="0A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C08A"/>
                </a:solidFill>
                <a:latin typeface="Consolas"/>
              </a:rPr>
              <a:t>A = compute_analytics()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C08A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C08A"/>
                </a:solidFill>
                <a:latin typeface="Consolas"/>
              </a:rPr>
              <a:t>  revenue          602,378 EGP        margin          19.1%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C08A"/>
                </a:solidFill>
                <a:latin typeface="Consolas"/>
              </a:rPr>
              <a:t>  inventory      2,222,900 EGP        dead_capital  197,400 EGP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C08A"/>
                </a:solidFill>
                <a:latin typeface="Consolas"/>
              </a:rPr>
              <a:t>  top_by_profit    [iPhone 16 Pro, Galaxy A56, Anker PowerCore]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68496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8862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Honest nulls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90448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9A8"/>
                </a:solidFill>
                <a:latin typeface="Calibri"/>
              </a:rPr>
              <a:t>revenue_change returns None — not a fabricated 0% — when there is no comparable prior period.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72000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8970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Ranked by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50799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9A8"/>
                </a:solidFill>
                <a:latin typeface="Calibri"/>
              </a:rPr>
              <a:t>Anker is #4 by revenue but #3 by profit at 32% margin. Revenue-only ranking actively misleads.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175504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09320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Equal 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5111496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9A8"/>
                </a:solidFill>
                <a:latin typeface="Calibri"/>
              </a:rPr>
              <a:t>30 days compared against the preceding 30 — never a partial period against a full 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779008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69671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Dead capital surfaced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57150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9A8"/>
                </a:solidFill>
                <a:latin typeface="Calibri"/>
              </a:rPr>
              <a:t>197,400 EGP with no sale in the window: 9% of inventory earning nothing.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005840" cy="635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2 · LangChain — prose from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ProductIQ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5/14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0A6A6"/>
                </a:solidFill>
                <a:latin typeface="Calibri"/>
              </a:rPr>
              <a:t>The prompt carries the numbers and one instruction: do not recalculate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10789920" cy="1600200"/>
          </a:xfrm>
          <a:prstGeom prst="roundRect">
            <a:avLst>
              <a:gd name="adj" fmla="val 8000"/>
            </a:avLst>
          </a:prstGeom>
          <a:solidFill>
            <a:srgbClr val="0A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0A6A6"/>
                </a:solidFill>
                <a:latin typeface="Consolas"/>
              </a:rPr>
              <a:t>ceo_prompt = ChatPromptTemplate.from_template("""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0A6A6"/>
                </a:solidFill>
                <a:latin typeface="Consolas"/>
              </a:rPr>
              <a:t>    FIGURES (already computed — use exactly, never recalculate):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0A6A6"/>
                </a:solidFill>
                <a:latin typeface="Consolas"/>
              </a:rPr>
              <a:t>    Revenue: {revenue:,} EGP      Dead capital: {dead_capital:,} EGP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0A6A6"/>
                </a:solidFill>
                <a:latin typeface="Consolas"/>
              </a:rPr>
              <a:t>    Top by profit: {top}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0A6A6"/>
                </a:solidFill>
                <a:latin typeface="Consolas"/>
              </a:rPr>
              <a:t>""")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4A537"/>
                </a:solidFill>
                <a:latin typeface="Calibri"/>
              </a:rPr>
              <a:t>Generated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69080"/>
            <a:ext cx="10789920" cy="1874519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HEADLINE: 197,400 EGP is frozen in stock that hasn't sold in 30 days.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 THIS WEEK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1. Clear the dead stock — recover 197,400 EGP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2. Restock the 2 at-risk products before they cost you sales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3. Review the 14% margin on your #2 revenue product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005840" cy="635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3 · RAG — built FROM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ProductIQ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6/14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57800" cy="1325880"/>
          </a:xfrm>
          <a:prstGeom prst="roundRect">
            <a:avLst>
              <a:gd name="adj" fmla="val 8000"/>
            </a:avLst>
          </a:prstGeom>
          <a:solidFill>
            <a:srgbClr val="2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0992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5A5A"/>
                </a:solidFill>
                <a:latin typeface="Calibri"/>
              </a:rPr>
              <a:t>✕   Typical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84831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hardcoded string of product descriptions,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typed by hand. Stale the moment the data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changes — and silently wrong.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12080" cy="1325880"/>
          </a:xfrm>
          <a:prstGeom prst="roundRect">
            <a:avLst>
              <a:gd name="adj" fmla="val 8000"/>
            </a:avLst>
          </a:prstGeom>
          <a:solidFill>
            <a:srgbClr val="0F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0992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AC08A"/>
                </a:solidFill>
                <a:latin typeface="Calibri"/>
              </a:rPr>
              <a:t>✓   ProductIQ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84831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One document generated per product from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the CSVs. Change the data and the knowledge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base changes with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358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4A537"/>
                </a:solidFill>
                <a:latin typeface="Calibri"/>
              </a:rPr>
              <a:t>A generated document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01568"/>
            <a:ext cx="10789920" cy="1188720"/>
          </a:xfrm>
          <a:prstGeom prst="roundRect">
            <a:avLst>
              <a:gd name="adj" fmla="val 8000"/>
            </a:avLst>
          </a:prstGeom>
          <a:solidFill>
            <a:srgbClr val="0A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3931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0A6A6"/>
                </a:solidFill>
                <a:latin typeface="Consolas"/>
              </a:rPr>
              <a:t>Samsung Galaxy A56 (Smartphones, Samsung). Price 5,990 EGP, cost 5,100 EGP,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0A6A6"/>
                </a:solidFill>
                <a:latin typeface="Consolas"/>
              </a:rPr>
              <a:t>margin 14.9%. Last 30 days: 32 units, 189,883 EGP revenue. Stock 120 units,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0A6A6"/>
                </a:solidFill>
                <a:latin typeface="Consolas"/>
              </a:rPr>
              <a:t>612,000 EGP tied up, 112.5 days of cover. Supplier El Nour, 3 day lead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Pipeline:  10 docs  →  all-MiniLM-L6-v2 embeddings (local, free)  →  FAISS index  →  top-k =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193792"/>
            <a:ext cx="10789920" cy="868680"/>
          </a:xfrm>
          <a:prstGeom prst="roundRect">
            <a:avLst>
              <a:gd name="adj" fmla="val 8000"/>
            </a:avLst>
          </a:prstGeom>
          <a:solidFill>
            <a:srgbClr val="3A2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6752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D4A537"/>
                </a:solidFill>
                <a:latin typeface="Calibri"/>
              </a:rPr>
              <a:t>Honest limit: retrieval is semantic, not analytical. Ask "highest margin" and it returns products whose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D4A537"/>
                </a:solidFill>
                <a:latin typeface="Calibri"/>
              </a:rPr>
              <a:t>text mentions margin — not the mathematically highest. That is exactly why layer 1 computes the ranking.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005840" cy="635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4 · CrewAI — four grounded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ProductIQ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7/14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0A6A6"/>
                </a:solidFill>
                <a:latin typeface="Calibri"/>
              </a:rPr>
              <a:t>Each agent argues from a different source. Same facts, different lens.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10789920" cy="804672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63500" cy="804672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5A5A"/>
                </a:solidFill>
                <a:latin typeface="Calibri"/>
              </a:rPr>
              <a:t>Market Researcher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24942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Live web via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2677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9A8"/>
                </a:solidFill>
                <a:latin typeface="Calibri"/>
              </a:rPr>
              <a:t>Must cite source URLs or say nothing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80944"/>
            <a:ext cx="10789920" cy="804672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80944"/>
            <a:ext cx="63500" cy="80467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0954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A6A6"/>
                </a:solidFill>
                <a:latin typeface="Calibri"/>
              </a:rPr>
              <a:t>Data Analyst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21868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pandas figures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236976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9A8"/>
                </a:solidFill>
                <a:latin typeface="Calibri"/>
              </a:rPr>
              <a:t>Authoritative on every number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50208"/>
            <a:ext cx="10789920" cy="804672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950208"/>
            <a:ext cx="63500" cy="804672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788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4A537"/>
                </a:solidFill>
                <a:latin typeface="Calibri"/>
              </a:rPr>
              <a:t>Supply Specialist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18795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Stock + lead times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2062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9A8"/>
                </a:solidFill>
                <a:latin typeface="Calibri"/>
              </a:rPr>
              <a:t>Reorder, hold, or clear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919472"/>
            <a:ext cx="10789920" cy="804672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919472"/>
            <a:ext cx="635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14807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15721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All three positions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1755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9A8"/>
                </a:solidFill>
                <a:latin typeface="Calibri"/>
              </a:rPr>
              <a:t>Decides, and names the source it trusts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989320"/>
            <a:ext cx="10789920" cy="566928"/>
          </a:xfrm>
          <a:prstGeom prst="roundRect">
            <a:avLst>
              <a:gd name="adj" fmla="val 8000"/>
            </a:avLst>
          </a:prstGeom>
          <a:solidFill>
            <a:srgbClr val="0F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607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AC08A"/>
                </a:solidFill>
                <a:latin typeface="Calibri"/>
              </a:rPr>
              <a:t>When web evidence and internal numbers conflict, the CEO must state which it trusts — never quietly average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005840" cy="635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the crew actually produced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ProductIQ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8/14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0A6A6"/>
                </a:solidFill>
                <a:latin typeface="Calibri"/>
              </a:rPr>
              <a:t>The notebook auto-selects the product with the most capital at stake.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84831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99A8"/>
                </a:solidFill>
                <a:latin typeface="Calibri"/>
              </a:rPr>
              <a:t>DECIDING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D4A537"/>
                </a:solidFill>
                <a:latin typeface="Calibri"/>
              </a:rPr>
              <a:t>Canon EOS R50  ·  82,500 EGP tied up  ·  0 units sold in 30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54680"/>
            <a:ext cx="10789920" cy="658368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154680"/>
            <a:ext cx="63500" cy="65836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2841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A6A6"/>
                </a:solidFill>
                <a:latin typeface="Calibri"/>
              </a:rPr>
              <a:t>Data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33756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Holds 82,500 EGP and returned 0 EGP in 30 days. Return on that capital is zero.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10789920" cy="658368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31920"/>
            <a:ext cx="63500" cy="658368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0565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4A537"/>
                </a:solidFill>
                <a:latin typeface="Calibri"/>
              </a:rPr>
              <a:t>Supply Specialist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1148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Stock is not turning. Cover is effectively infinite. Stop reordering.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09160"/>
            <a:ext cx="10789920" cy="658368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709160"/>
            <a:ext cx="63500" cy="658368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8289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5A5A"/>
                </a:solidFill>
                <a:latin typeface="Calibri"/>
              </a:rPr>
              <a:t>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89204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Worth one discount cycle to test whether price is the blocker.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86400"/>
            <a:ext cx="10789920" cy="658368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486400"/>
            <a:ext cx="63500" cy="658368"/>
          </a:xfrm>
          <a:prstGeom prst="rect">
            <a:avLst/>
          </a:prstGeom>
          <a:solidFill>
            <a:srgbClr val="3A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66013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AC08A"/>
                </a:solidFill>
                <a:latin typeface="Calibri"/>
              </a:rPr>
              <a:t>CEO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56692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DECISION — CLEAR. 20% discount for 14 days; if it does not move, return to supplier.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005840" cy="635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MCP — a tool the crew picks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ProductIQ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9/14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A6A6"/>
                </a:solidFill>
                <a:latin typeface="Calibri"/>
              </a:rPr>
              <a:t>Tavily MCP server over stdio, wrapped as a CrewAI tool.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4A537"/>
                </a:solidFill>
                <a:latin typeface="Calibri"/>
              </a:rPr>
              <a:t>The agent decides WHEN to search. The client decides WHETHER the call is allowed.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60320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Session reuse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8716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Calibri"/>
              </a:rPr>
              <a:t>One subprocess for the whole run — not one per 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00400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Cache · 6h TTL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12724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Calibri"/>
              </a:rPr>
              <a:t>Repeated questions cost nothing and return instantly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40480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Budget + rate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76732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Calibri"/>
              </a:rPr>
              <a:t>An agent in a loop cannot burn 1,000 searches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480560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891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Timeout · 20s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40740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Calibri"/>
              </a:rPr>
              <a:t>A hung MCP server cannot freeze the crew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120640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Degrades, never crashes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04748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Calibri"/>
              </a:rPr>
              <a:t>"Unavailable — say so, do not invent prices"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760720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669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Cite or stay silent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68756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9A8"/>
                </a:solidFill>
                <a:latin typeface="Calibri"/>
              </a:rPr>
              <a:t>Results are returned numbered, with URLs attached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005840" cy="635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 bug worth showing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ProductIQ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10/14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D4A537"/>
                </a:solidFill>
                <a:latin typeface="Calibri"/>
              </a:rPr>
              <a:t>Found by running it, not by reading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0789920" cy="960120"/>
          </a:xfrm>
          <a:prstGeom prst="roundRect">
            <a:avLst>
              <a:gd name="adj" fmla="val 8000"/>
            </a:avLst>
          </a:prstGeom>
          <a:solidFill>
            <a:srgbClr val="2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05A5A"/>
                </a:solidFill>
                <a:latin typeface="Consolas"/>
              </a:rPr>
              <a:t>RuntimeError: Attempted to exit cancel scope in a different task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05A5A"/>
                </a:solidFill>
                <a:latin typeface="Consolas"/>
              </a:rPr>
              <a:t>                than it was entered in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91256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A6A6"/>
                </a:solidFill>
                <a:latin typeface="Calibri"/>
              </a:rPr>
              <a:t>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127248"/>
            <a:ext cx="8595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asyncio.run() creates and destroys an event loop per call — tearing down the long-lived MCP stdio session from the wrong task.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59936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A6A6"/>
                </a:solidFill>
                <a:latin typeface="Calibri"/>
              </a:rP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995928"/>
            <a:ext cx="8595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One background event loop owned for the session lifetime, invoked from sync code via run_coroutine_threadsafe.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928616"/>
            <a:ext cx="88900" cy="889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A6A6"/>
                </a:solidFill>
                <a:latin typeface="Calibri"/>
              </a:rPr>
              <a:t>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864608"/>
            <a:ext cx="8595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Subprocess spawns once. Session reused across calls. Cache hit confirmed on repeat query.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760720"/>
            <a:ext cx="10789920" cy="594360"/>
          </a:xfrm>
          <a:prstGeom prst="roundRect">
            <a:avLst>
              <a:gd name="adj" fmla="val 8000"/>
            </a:avLst>
          </a:prstGeom>
          <a:solidFill>
            <a:srgbClr val="0F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91616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AC08A"/>
                </a:solidFill>
                <a:latin typeface="Calibri"/>
              </a:rPr>
              <a:t>It only fires on the SECOND search — which is why it survives a live demo and breaks in production.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005840" cy="635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All four, in one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ProductIQ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11/14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0A6A6"/>
                </a:solidFill>
                <a:latin typeface="Consolas"/>
              </a:rPr>
              <a:t>notebooks/ProductIQ_CEO_Simple.ipynb  —  28 cells, runs top to bottom.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0789920" cy="694944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63500" cy="694944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99A8"/>
                </a:solidFill>
                <a:latin typeface="Calibri"/>
              </a:rPr>
              <a:t>Cell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22199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A6A6"/>
                </a:solidFill>
                <a:latin typeface="Calibri"/>
              </a:rPr>
              <a:t>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2402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pandas over the four CSVs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98648"/>
            <a:ext cx="10789920" cy="694944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898648"/>
            <a:ext cx="63500" cy="694944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8152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99A8"/>
                </a:solidFill>
                <a:latin typeface="Calibri"/>
              </a:rPr>
              <a:t>Cell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0632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4A537"/>
                </a:solidFill>
                <a:latin typeface="Calibri"/>
              </a:rPr>
              <a:t>LangChain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081528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CEO report generated from those figures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39896"/>
            <a:ext cx="10789920" cy="694944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39896"/>
            <a:ext cx="63500" cy="694944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92277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99A8"/>
                </a:solidFill>
                <a:latin typeface="Calibri"/>
              </a:rPr>
              <a:t>Cell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9044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5A5A"/>
                </a:solidFill>
                <a:latin typeface="Calibri"/>
              </a:rPr>
              <a:t>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922776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FAISS index + three CEO questions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81144"/>
            <a:ext cx="10789920" cy="694944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581144"/>
            <a:ext cx="63500" cy="694944"/>
          </a:xfrm>
          <a:prstGeom prst="rect">
            <a:avLst/>
          </a:prstGeom>
          <a:solidFill>
            <a:srgbClr val="3A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6402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99A8"/>
                </a:solidFill>
                <a:latin typeface="Calibri"/>
              </a:rPr>
              <a:t>Cell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74573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AC08A"/>
                </a:solidFill>
                <a:latin typeface="Calibri"/>
              </a:rPr>
              <a:t>CrewAI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764024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Four agents debate a single product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422392"/>
            <a:ext cx="10789920" cy="694944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5422392"/>
            <a:ext cx="63500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60527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99A8"/>
                </a:solidFill>
                <a:latin typeface="Calibri"/>
              </a:rPr>
              <a:t>Cell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5869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MCP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60527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Live web tool handed to the researcher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00A6A6"/>
                </a:solidFill>
                <a:latin typeface="Calibri"/>
              </a:rPr>
              <a:t>Runs end-to-end with no API key using deterministic fallbacks. Add keys for the real 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005840" cy="635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Every layer degrades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ProductIQ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12/14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0A6A6"/>
                </a:solidFill>
                <a:latin typeface="Calibri"/>
              </a:rPr>
              <a:t>Nothing crashes. Nothing silently substitutes fake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63500" cy="713232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4A537"/>
                </a:solidFill>
                <a:latin typeface="Calibri"/>
              </a:rPr>
              <a:t>No GROQ_API_KEY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24942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Rule-based output, clearly labelled as such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26080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926080"/>
            <a:ext cx="63500" cy="713232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4A537"/>
                </a:solidFill>
                <a:latin typeface="Calibri"/>
              </a:rPr>
              <a:t>No TAVILY_API_KEY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11810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"Live data unavailable — do not invent prices"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94760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794760"/>
            <a:ext cx="63500" cy="713232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4A537"/>
                </a:solidFill>
                <a:latin typeface="Calibri"/>
              </a:rPr>
              <a:t>No network at 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98678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Analytics and RAG still run fully offline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63440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663440"/>
            <a:ext cx="63500" cy="713232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4A537"/>
                </a:solidFill>
                <a:latin typeface="Calibri"/>
              </a:rPr>
              <a:t>MCP server hangs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85546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20s timeout, then reconnect on next 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532120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5532120"/>
            <a:ext cx="63500" cy="713232"/>
          </a:xfrm>
          <a:prstGeom prst="rect">
            <a:avLst/>
          </a:prstGeom>
          <a:solidFill>
            <a:srgbClr val="D4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150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4A537"/>
                </a:solidFill>
                <a:latin typeface="Calibri"/>
              </a:rPr>
              <a:t>Malformed CSV upload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72414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Rejected atomically — existing data untouched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005840" cy="635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ProductIQ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9A8"/>
                </a:solidFill>
                <a:latin typeface="Calibri"/>
              </a:rPr>
              <a:t>13/14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A99A8"/>
                </a:solidFill>
                <a:latin typeface="Calibri"/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002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A99A8"/>
                </a:solidFill>
                <a:latin typeface="Calibri"/>
              </a:rPr>
              <a:t>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600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A99A8"/>
                </a:solidFill>
                <a:latin typeface="Calibri"/>
              </a:rPr>
              <a:t>Package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10789920" cy="530352"/>
          </a:xfrm>
          <a:prstGeom prst="rect">
            <a:avLst/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A6A6"/>
                </a:solidFill>
                <a:latin typeface="Calibri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9397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Groq · llama-3.3-70b-versatile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9A8"/>
                </a:solidFill>
                <a:latin typeface="Consolas"/>
              </a:rPr>
              <a:t>langchain-groq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06040"/>
            <a:ext cx="10789920" cy="530352"/>
          </a:xfrm>
          <a:prstGeom prst="rect">
            <a:avLst/>
          </a:prstGeom>
          <a:solidFill>
            <a:srgbClr val="0F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2491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A6A6"/>
                </a:solidFill>
                <a:latin typeface="Calibri"/>
              </a:rPr>
              <a:t>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3405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LangChain prompt templates + chains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9A8"/>
                </a:solidFill>
                <a:latin typeface="Consolas"/>
              </a:rPr>
              <a:t>langchain-core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246120"/>
            <a:ext cx="10789920" cy="530352"/>
          </a:xfrm>
          <a:prstGeom prst="rect">
            <a:avLst/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3649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A6A6"/>
                </a:solidFill>
                <a:latin typeface="Calibri"/>
              </a:rPr>
              <a:t>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7413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all-MiniLM-L6-v2 — local, free, no API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3832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9A8"/>
                </a:solidFill>
                <a:latin typeface="Consolas"/>
              </a:rPr>
              <a:t>sentence-transformers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886200"/>
            <a:ext cx="10789920" cy="530352"/>
          </a:xfrm>
          <a:prstGeom prst="rect">
            <a:avLst/>
          </a:prstGeom>
          <a:solidFill>
            <a:srgbClr val="0F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00507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A6A6"/>
                </a:solidFill>
                <a:latin typeface="Calibri"/>
              </a:rPr>
              <a:t>Vector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01421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FAISS, in-memory, rebuilt from data on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0233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9A8"/>
                </a:solidFill>
                <a:latin typeface="Consolas"/>
              </a:rPr>
              <a:t>faiss-cpu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526280"/>
            <a:ext cx="10789920" cy="530352"/>
          </a:xfrm>
          <a:prstGeom prst="rect">
            <a:avLst/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4515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A6A6"/>
                </a:solidFill>
                <a:latin typeface="Calibri"/>
              </a:rPr>
              <a:t>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65429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CrewAI, sequential 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6634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9A8"/>
                </a:solidFill>
                <a:latin typeface="Consolas"/>
              </a:rPr>
              <a:t>crewai + litellm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166360"/>
            <a:ext cx="10789920" cy="530352"/>
          </a:xfrm>
          <a:prstGeom prst="rect">
            <a:avLst/>
          </a:prstGeom>
          <a:solidFill>
            <a:srgbClr val="0F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28523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A6A6"/>
                </a:solidFill>
                <a:latin typeface="Calibri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29437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Tavily MCP over stdio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303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9A8"/>
                </a:solidFill>
                <a:latin typeface="Consolas"/>
              </a:rPr>
              <a:t>mcp SDK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5806440"/>
            <a:ext cx="10789920" cy="530352"/>
          </a:xfrm>
          <a:prstGeom prst="rect">
            <a:avLst/>
          </a:prstGeom>
          <a:solidFill>
            <a:srgbClr val="12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92531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A6A6"/>
                </a:solidFill>
                <a:latin typeface="Calibri"/>
              </a:rPr>
              <a:t>Compute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93445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pandas — the source of every number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9436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9A8"/>
                </a:solidFill>
                <a:latin typeface="Consolas"/>
              </a:rPr>
              <a:t>pandas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8A99A8"/>
                </a:solidFill>
                <a:latin typeface="Calibri"/>
              </a:rPr>
              <a:t>Four AI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Zero invented numbers.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4224528"/>
            <a:ext cx="2926080" cy="508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D4A537"/>
                </a:solidFill>
                <a:latin typeface="Consolas"/>
              </a:rPr>
              <a:t>notebooks/ProductIQ_CEO_Simple.ipynb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9A8"/>
                </a:solidFill>
                <a:latin typeface="Calibri"/>
              </a:rPr>
              <a:t>github.com/myler71/productIQ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